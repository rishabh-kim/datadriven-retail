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7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81"/>
  </p:normalViewPr>
  <p:slideViewPr>
    <p:cSldViewPr snapToGrid="0" snapToObjects="1">
      <p:cViewPr varScale="1">
        <p:scale>
          <a:sx n="135" d="100"/>
          <a:sy n="135" d="100"/>
        </p:scale>
        <p:origin x="1944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salesdashboard-YearOverYearAnalysis/YearOverYearDashboard" TargetMode="External"/><Relationship Id="rId2" Type="http://schemas.openxmlformats.org/officeDocument/2006/relationships/hyperlink" Target="https://public.tableau.com/views/salesdashboard-ProfitAnalysis/ProfitAnalysi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Sales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Interactive Retail Performance Analytics</a:t>
            </a:r>
            <a:br/>
            <a:r>
              <a:t>2014-2017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Executive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Analyzes 9,995+ sales transactions (2014-2017)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Interactive dashboards for sales, profit, and year-over-year analysis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Dynamic filtering by year enables trend identification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Integrates sales, manager, and return data for complete visibility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Business Value:</a:t>
            </a:r>
            <a:r>
              <a:rPr sz="1600">
                <a:solidFill>
                  <a:srgbClr val="444444"/>
                </a:solidFill>
              </a:rPr>
              <a:t> Transform raw transaction data into actionable insights for regional and category-level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Sales Analysis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Regional Performance Breakdown:</a:t>
            </a:r>
            <a:r>
              <a:rPr sz="1600" dirty="0">
                <a:solidFill>
                  <a:srgbClr val="444444"/>
                </a:solidFill>
              </a:rPr>
              <a:t> Sales by region with segment drill-down capability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Identify high-performing and underperforming regions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Track sales velocity by product category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Segment Analysis:</a:t>
            </a:r>
            <a:r>
              <a:rPr sz="1600" dirty="0">
                <a:solidFill>
                  <a:srgbClr val="444444"/>
                </a:solidFill>
              </a:rPr>
              <a:t> Consumer, Corporate, and Home Office performance comparison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Category preferences by customer segment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Category Deep-Dive:</a:t>
            </a:r>
            <a:r>
              <a:rPr sz="1600" dirty="0">
                <a:solidFill>
                  <a:srgbClr val="444444"/>
                </a:solidFill>
              </a:rPr>
              <a:t> Top and bottom performing product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A13ED-7559-C907-6751-FE4C20D4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3C185B-DCDB-91E9-8397-C06CCD0B2944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Sales Analysis Dashboard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5CA11ED-9994-BC17-6FAA-53F9EF3693AD}"/>
              </a:ext>
            </a:extLst>
          </p:cNvPr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1427DE53-26E5-EB48-E68F-8B132D5D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32" y="1582398"/>
            <a:ext cx="5305535" cy="527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4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Profit Analysis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Margin Analysis:</a:t>
            </a:r>
            <a:r>
              <a:rPr sz="1600">
                <a:solidFill>
                  <a:srgbClr val="444444"/>
                </a:solidFill>
              </a:rPr>
              <a:t> Profit by region and category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Profitability trends across 2014-2017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Identify margin-erosion categories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Discount Impact Assessment:</a:t>
            </a:r>
            <a:r>
              <a:rPr sz="1600">
                <a:solidFill>
                  <a:srgbClr val="444444"/>
                </a:solidFill>
              </a:rPr>
              <a:t> Correlate discount depth with profit levels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Identify high-discount, low-profit scenarios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Performance Ranking:</a:t>
            </a:r>
            <a:r>
              <a:rPr sz="1600">
                <a:solidFill>
                  <a:srgbClr val="444444"/>
                </a:solidFill>
              </a:rPr>
              <a:t> Regional profitability hierarchy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Profit contribution % by segment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Key Insight:</a:t>
            </a:r>
            <a:r>
              <a:rPr sz="1600">
                <a:solidFill>
                  <a:srgbClr val="444444"/>
                </a:solidFill>
              </a:rPr>
              <a:t> Profit trends reveal which categories are truly valuable vs. high-volume but low-margin.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CD40D-7A75-A2C5-4B4D-750CCA3C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4853C-3D21-5F90-4021-C73786BA2DF9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Profit Analysis Dashboard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2587D84-E5A0-02C2-1A14-1C4821F96B19}"/>
              </a:ext>
            </a:extLst>
          </p:cNvPr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29607A63-0446-0DB2-8CA1-F6101A25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30" y="1639226"/>
            <a:ext cx="6081739" cy="47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8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Year-Over-Year Analysis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Growth Metrics:</a:t>
            </a:r>
            <a:r>
              <a:rPr sz="1600">
                <a:solidFill>
                  <a:srgbClr val="444444"/>
                </a:solidFill>
              </a:rPr>
              <a:t> Year-over-year sales and profit growth rates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Identify accelerating and decelerating categories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Dynamic Filtering:</a:t>
            </a:r>
            <a:r>
              <a:rPr sz="1600">
                <a:solidFill>
                  <a:srgbClr val="444444"/>
                </a:solidFill>
              </a:rPr>
              <a:t> Select year parameter (2014-2017) to compare periods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Quick pivot to different time windows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Trend Patterns:</a:t>
            </a:r>
            <a:r>
              <a:rPr sz="1600">
                <a:solidFill>
                  <a:srgbClr val="444444"/>
                </a:solidFill>
              </a:rPr>
              <a:t> Consistent growth categories vs. volatile ones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Seasonal patterns year-over-year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Early warning indicators for declining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55D84-616B-404C-17FA-4B4C279E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5CCFA-CCC2-18BE-0901-2566463E4EA2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Year-Over-Year Analysis Dashboard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0201A55-33D4-B99D-D68B-8493C15D51DF}"/>
              </a:ext>
            </a:extLst>
          </p:cNvPr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CEBD49CB-B489-82D6-1439-E9B669223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1505827"/>
            <a:ext cx="5325644" cy="535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9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Data Integration &amp; Intelligence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Three Data Streams: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Orders Table:</a:t>
            </a:r>
            <a:r>
              <a:rPr sz="1400">
                <a:solidFill>
                  <a:srgbClr val="444444"/>
                </a:solidFill>
              </a:rPr>
              <a:t> 9,995 transactions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People Table:</a:t>
            </a:r>
            <a:r>
              <a:rPr sz="1400">
                <a:solidFill>
                  <a:srgbClr val="444444"/>
                </a:solidFill>
              </a:rPr>
              <a:t> Manager-to-region mapping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Returns Table:</a:t>
            </a:r>
            <a:r>
              <a:rPr sz="1400">
                <a:solidFill>
                  <a:srgbClr val="444444"/>
                </a:solidFill>
              </a:rPr>
              <a:t> 297 returned orders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Key Dimensions: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Geography: Region, State, City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Business: Segment, Category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Temporal: 2014-2017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Derived Insights: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Return Rates:</a:t>
            </a:r>
            <a:r>
              <a:rPr sz="1400">
                <a:solidFill>
                  <a:srgbClr val="444444"/>
                </a:solidFill>
              </a:rPr>
              <a:t> Manager/region accountability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Discount Patterns:</a:t>
            </a:r>
            <a:r>
              <a:rPr sz="1400">
                <a:solidFill>
                  <a:srgbClr val="444444"/>
                </a:solidFill>
              </a:rPr>
              <a:t> Margin protection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Customer Segment:</a:t>
            </a:r>
            <a:r>
              <a:rPr sz="1400">
                <a:solidFill>
                  <a:srgbClr val="444444"/>
                </a:solidFill>
              </a:rPr>
              <a:t> Profitability analysis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Linked Analysis: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Cross-functional visibility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Accountability tracking</a:t>
            </a:r>
          </a:p>
          <a:p>
            <a:pPr>
              <a:spcBef>
                <a:spcPts val="600"/>
              </a:spcBef>
              <a:defRPr sz="1400">
                <a:solidFill>
                  <a:srgbClr val="444444"/>
                </a:solidFill>
              </a:defRPr>
            </a:pPr>
            <a:r>
              <a:t>Risk identification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Interactive Capabilities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Year-Based Filter:</a:t>
            </a:r>
            <a:r>
              <a:rPr sz="1600">
                <a:solidFill>
                  <a:srgbClr val="444444"/>
                </a:solidFill>
              </a:rPr>
              <a:t> Parameter selector (2014, 2015, 2016, 2017)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All dashboard views update dynamically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Enables trend comparison and deep-dive analysis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Drill-Down Capabilities:</a:t>
            </a:r>
            <a:r>
              <a:rPr sz="1600">
                <a:solidFill>
                  <a:srgbClr val="444444"/>
                </a:solidFill>
              </a:rPr>
              <a:t> Region → Category → Sub-Category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Customer Segment → Product Detail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Cross-Dashboard Navigation:</a:t>
            </a:r>
            <a:r>
              <a:rPr sz="1600">
                <a:solidFill>
                  <a:srgbClr val="444444"/>
                </a:solidFill>
              </a:rPr>
              <a:t> Filter selections carry across dashboards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Return patterns linked to manager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rPr dirty="0"/>
              <a:t>Live Dashboard Access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Access the interactive dashboards: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Profit Analysis Dashboard:</a:t>
            </a:r>
            <a:r>
              <a:rPr sz="1600" dirty="0">
                <a:solidFill>
                  <a:srgbClr val="444444"/>
                </a:solidFill>
              </a:rPr>
              <a:t> </a:t>
            </a:r>
            <a:r>
              <a:rPr sz="1600" dirty="0">
                <a:solidFill>
                  <a:srgbClr val="444444"/>
                </a:solidFill>
                <a:hlinkClick r:id="rId2"/>
              </a:rPr>
              <a:t>https://</a:t>
            </a:r>
            <a:r>
              <a:rPr sz="1600" dirty="0" err="1">
                <a:solidFill>
                  <a:srgbClr val="444444"/>
                </a:solidFill>
                <a:hlinkClick r:id="rId2"/>
              </a:rPr>
              <a:t>public.tableau.com</a:t>
            </a:r>
            <a:r>
              <a:rPr sz="1600" dirty="0">
                <a:solidFill>
                  <a:srgbClr val="444444"/>
                </a:solidFill>
                <a:hlinkClick r:id="rId2"/>
              </a:rPr>
              <a:t>/views/</a:t>
            </a:r>
            <a:r>
              <a:rPr sz="1600" dirty="0" err="1">
                <a:solidFill>
                  <a:srgbClr val="444444"/>
                </a:solidFill>
                <a:hlinkClick r:id="rId2"/>
              </a:rPr>
              <a:t>salesdashboard-ProfitAnalysis</a:t>
            </a:r>
            <a:r>
              <a:rPr sz="1600" dirty="0">
                <a:solidFill>
                  <a:srgbClr val="444444"/>
                </a:solidFill>
                <a:hlinkClick r:id="rId2"/>
              </a:rPr>
              <a:t>/</a:t>
            </a:r>
            <a:r>
              <a:rPr sz="1600" dirty="0" err="1">
                <a:solidFill>
                  <a:srgbClr val="444444"/>
                </a:solidFill>
                <a:hlinkClick r:id="rId2"/>
              </a:rPr>
              <a:t>ProfitAnalysis</a:t>
            </a:r>
            <a:endParaRPr sz="1600" dirty="0">
              <a:solidFill>
                <a:srgbClr val="444444"/>
              </a:solidFill>
            </a:endParaRP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Year Over Year Analysis:</a:t>
            </a:r>
            <a:r>
              <a:rPr sz="1600" dirty="0">
                <a:solidFill>
                  <a:srgbClr val="444444"/>
                </a:solidFill>
              </a:rPr>
              <a:t> </a:t>
            </a:r>
            <a:r>
              <a:rPr sz="1600" dirty="0">
                <a:solidFill>
                  <a:srgbClr val="444444"/>
                </a:solidFill>
                <a:hlinkClick r:id="rId3"/>
              </a:rPr>
              <a:t>https://</a:t>
            </a:r>
            <a:r>
              <a:rPr sz="1600" dirty="0" err="1">
                <a:solidFill>
                  <a:srgbClr val="444444"/>
                </a:solidFill>
                <a:hlinkClick r:id="rId3"/>
              </a:rPr>
              <a:t>public.tableau.com</a:t>
            </a:r>
            <a:r>
              <a:rPr sz="1600" dirty="0">
                <a:solidFill>
                  <a:srgbClr val="444444"/>
                </a:solidFill>
                <a:hlinkClick r:id="rId3"/>
              </a:rPr>
              <a:t>/views/</a:t>
            </a:r>
            <a:r>
              <a:rPr sz="1600" dirty="0" err="1">
                <a:solidFill>
                  <a:srgbClr val="444444"/>
                </a:solidFill>
                <a:hlinkClick r:id="rId3"/>
              </a:rPr>
              <a:t>salesdashboard-YearOverYearAnalysis</a:t>
            </a:r>
            <a:r>
              <a:rPr sz="1600" dirty="0">
                <a:solidFill>
                  <a:srgbClr val="444444"/>
                </a:solidFill>
                <a:hlinkClick r:id="rId3"/>
              </a:rPr>
              <a:t>/</a:t>
            </a:r>
            <a:r>
              <a:rPr sz="1600" dirty="0" err="1">
                <a:solidFill>
                  <a:srgbClr val="444444"/>
                </a:solidFill>
                <a:hlinkClick r:id="rId3"/>
              </a:rPr>
              <a:t>YearOverYearDashboard</a:t>
            </a:r>
            <a:endParaRPr sz="1600" dirty="0">
              <a:solidFill>
                <a:srgbClr val="444444"/>
              </a:solidFill>
            </a:endParaRP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Deployed on Tableau Public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Real-time interactive exploration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rPr dirty="0"/>
              <a:t>Dynamic filtering and drill-down capabilities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Key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Problem Solved:</a:t>
            </a:r>
            <a:r>
              <a:rPr sz="1600">
                <a:solidFill>
                  <a:srgbClr val="444444"/>
                </a:solidFill>
              </a:rPr>
              <a:t> Retail leadership now has real-time, consolidated visibility into sales performance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Capability Delivered:</a:t>
            </a:r>
            <a:r>
              <a:rPr sz="1600">
                <a:solidFill>
                  <a:srgbClr val="444444"/>
                </a:solidFill>
              </a:rPr>
              <a:t> Dynamic filtering, multi-dimensional drill-down, accountability tracking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E79"/>
                </a:solidFill>
              </a:rPr>
              <a:t>Business Impact:</a:t>
            </a:r>
            <a:r>
              <a:rPr sz="1600">
                <a:solidFill>
                  <a:srgbClr val="444444"/>
                </a:solidFill>
              </a:rPr>
              <a:t> Faster decision-making (minutes vs. weeks)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Proactive identification of risks and opportunities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Data-driven resource allocation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Improved margin management through discount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472</Words>
  <Application>Microsoft Macintosh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rishabh kimothi</cp:lastModifiedBy>
  <cp:revision>3</cp:revision>
  <dcterms:created xsi:type="dcterms:W3CDTF">2013-01-27T09:14:16Z</dcterms:created>
  <dcterms:modified xsi:type="dcterms:W3CDTF">2026-01-28T23:29:10Z</dcterms:modified>
  <cp:category/>
</cp:coreProperties>
</file>